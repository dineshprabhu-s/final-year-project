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AEDE97-B05E-4D7D-9953-CCD917A19136}">
  <a:tblStyle styleId="{B5AEDE97-B05E-4D7D-9953-CCD917A191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32519ca7c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32519ca7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532519ca7c_2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32519ca7c_2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32519ca7c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532519ca7c_2_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32519ca7c_2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32519ca7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532519ca7c_2_1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32519ca7c_2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32519ca7c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532519ca7c_2_2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2bd6db4f0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2bd6db4f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52bd6db4f0_1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32519ca7c_2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32519ca7c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532519ca7c_2_3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32519ca7c_2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32519ca7c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532519ca7c_2_4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32519ca7c_2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32519ca7c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532519ca7c_2_5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32519ca7c_2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32519ca7c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532519ca7c_2_5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32519ca7c_2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32519ca7c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532519ca7c_2_9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32519ca7c_2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32519ca7c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532519ca7c_2_6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32519ca7c_2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32519ca7c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532519ca7c_2_7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2b93c4b5d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2b93c4b5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52b93c4b5d_0_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ADA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datacamp.com/blog/agentic-rag" TargetMode="External"/><Relationship Id="rId4" Type="http://schemas.openxmlformats.org/officeDocument/2006/relationships/hyperlink" Target="https://www.linkedin.com/pulse/top-llms-chatbots-generative-ai-guide-covisian-s50uf" TargetMode="External"/><Relationship Id="rId10" Type="http://schemas.openxmlformats.org/officeDocument/2006/relationships/hyperlink" Target="https://skillcrush.com/blog/best-llm-frameworks/" TargetMode="External"/><Relationship Id="rId9" Type="http://schemas.openxmlformats.org/officeDocument/2006/relationships/hyperlink" Target="https://blog.jetbrains.com/pycharm/2024/08/how-to-build-chatbots-with-langchain/" TargetMode="External"/><Relationship Id="rId5" Type="http://schemas.openxmlformats.org/officeDocument/2006/relationships/hyperlink" Target="https://skillcrush.com/blog/best-llm-frameworks/" TargetMode="External"/><Relationship Id="rId6" Type="http://schemas.openxmlformats.org/officeDocument/2006/relationships/hyperlink" Target="https://www.pingcap.com/article/step-by-step-guide-to-using-langchain-for-ai-projects/" TargetMode="External"/><Relationship Id="rId7" Type="http://schemas.openxmlformats.org/officeDocument/2006/relationships/hyperlink" Target="https://supabase.io/docs" TargetMode="External"/><Relationship Id="rId8" Type="http://schemas.openxmlformats.org/officeDocument/2006/relationships/hyperlink" Target="https://streamlit.io/doc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0" y="1295400"/>
            <a:ext cx="9144000" cy="5562600"/>
          </a:xfrm>
          <a:prstGeom prst="rect">
            <a:avLst/>
          </a:pr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838200" y="27209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3080">
              <a:solidFill>
                <a:srgbClr val="0F0F0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3080">
              <a:solidFill>
                <a:srgbClr val="0F0F0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3080">
                <a:solidFill>
                  <a:srgbClr val="0F0F0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College Query Chatbot Using Agentic RAG, LLM, and LangChain</a:t>
            </a:r>
            <a:endParaRPr b="1" sz="3080">
              <a:solidFill>
                <a:srgbClr val="0F0F0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None/>
            </a:pPr>
            <a:r>
              <a:t/>
            </a:r>
            <a:endParaRPr b="1" sz="30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960"/>
              <a:buFont typeface="Cambria"/>
              <a:buNone/>
            </a:pPr>
            <a:r>
              <a:t/>
            </a:r>
            <a:endParaRPr b="1" sz="416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487362" y="177800"/>
            <a:ext cx="7900987" cy="984250"/>
            <a:chOff x="21771" y="152400"/>
            <a:chExt cx="7903029" cy="984885"/>
          </a:xfrm>
        </p:grpSpPr>
        <p:pic>
          <p:nvPicPr>
            <p:cNvPr descr="Description: Description: tce_logo.png" id="91" name="Google Shape;91;p13"/>
            <p:cNvPicPr preferRelativeResize="0"/>
            <p:nvPr/>
          </p:nvPicPr>
          <p:blipFill rotWithShape="1">
            <a:blip r:embed="rId4">
              <a:alphaModFix/>
            </a:blip>
            <a:srcRect b="2914" l="0" r="0" t="0"/>
            <a:stretch/>
          </p:blipFill>
          <p:spPr>
            <a:xfrm>
              <a:off x="21771" y="152400"/>
              <a:ext cx="983411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3"/>
            <p:cNvSpPr txBox="1"/>
            <p:nvPr/>
          </p:nvSpPr>
          <p:spPr>
            <a:xfrm>
              <a:off x="838199" y="152400"/>
              <a:ext cx="7086601" cy="984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mbria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THIAGARAJAR COLLEGE OF ENGINEERING, MADURAI-15</a:t>
              </a:r>
              <a:endParaRPr b="0" i="0" sz="200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mbria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(A Govt. Aided Autonomous Institution affiliated to Anna University)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mbria"/>
                <a:buNone/>
              </a:pPr>
              <a:r>
                <a:rPr b="1" i="1" lang="en-US" sz="2000" u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                           - where quality and ethics matter</a:t>
              </a:r>
              <a:r>
                <a:rPr b="0" i="0" lang="en-US" sz="2000" u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endParaRPr/>
            </a:p>
          </p:txBody>
        </p:sp>
      </p:grpSp>
      <p:cxnSp>
        <p:nvCxnSpPr>
          <p:cNvPr id="93" name="Google Shape;93;p13"/>
          <p:cNvCxnSpPr/>
          <p:nvPr/>
        </p:nvCxnSpPr>
        <p:spPr>
          <a:xfrm>
            <a:off x="0" y="1295400"/>
            <a:ext cx="9144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</p:cxnSp>
      <p:sp>
        <p:nvSpPr>
          <p:cNvPr id="94" name="Google Shape;94;p13"/>
          <p:cNvSpPr txBox="1"/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&lt;Department Name&gt;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03075" y="4889200"/>
            <a:ext cx="5010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by,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Dinesh Prabhu S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21C026</a:t>
            </a: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 Haran K (21C124)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572000" y="4799550"/>
            <a:ext cx="44466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y,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Vijayalakshmi</a:t>
            </a: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M.E., Ph.D.,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Professor,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457200" y="1076729"/>
            <a:ext cx="8229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2362200" y="6356350"/>
            <a:ext cx="419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i="0" lang="en-US" sz="140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Department of  Computer Science and Engineering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fld id="{00000000-1234-1234-1234-123412341234}" type="slidenum">
              <a:rPr i="0" lang="en-US" sz="120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457200" y="2033000"/>
            <a:ext cx="8229600" cy="29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Chatbots, also known as conversational agents, are now a common part of the digital world.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 main purpose of chatbots is to provide information in a simple and efficient way.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Chatbots powered by modern AI and LLMs can provide fast, contextual, and accurate responses to natural language queries.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457200" y="89701"/>
            <a:ext cx="8229600" cy="687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5" name="Google Shape;115;p15"/>
          <p:cNvGraphicFramePr/>
          <p:nvPr/>
        </p:nvGraphicFramePr>
        <p:xfrm>
          <a:off x="141275" y="875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{B5AEDE97-B05E-4D7D-9953-CCD917A19136}</a:tableStyleId>
              </a:tblPr>
              <a:tblGrid>
                <a:gridCol w="829700"/>
                <a:gridCol w="1985400"/>
                <a:gridCol w="1414850"/>
                <a:gridCol w="1504300"/>
                <a:gridCol w="1680900"/>
                <a:gridCol w="1446300"/>
              </a:tblGrid>
              <a:tr h="77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 name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Name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0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Conversational Recommender System Chatbot Based on Functional Requirement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D. Theosaksomo and D. H. Widyantoro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2019 IEEE 13th International Conference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a chatbot framework that recommends items based on functional requirements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Focused on recommendations; lacks document-based retrieval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05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Towards Chatbot-based Interactive What- and How-Question Answering Systems: the Adobot Approach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L. T. Hien, L. Tran Thi Ly, C. Pham-Nguyen, T. Le Dinh, H. Tiet Gia, and L. N. Hoai Nam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 RIVF International Conference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Designed Adobot for handling complex 'what' and 'how' questions interactively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scope of questions and static knowledge base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457200" y="1"/>
            <a:ext cx="8229600" cy="687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3" name="Google Shape;123;p16"/>
          <p:cNvGraphicFramePr/>
          <p:nvPr/>
        </p:nvGraphicFramePr>
        <p:xfrm>
          <a:off x="141275" y="7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{B5AEDE97-B05E-4D7D-9953-CCD917A19136}</a:tableStyleId>
              </a:tblPr>
              <a:tblGrid>
                <a:gridCol w="829700"/>
                <a:gridCol w="1754925"/>
                <a:gridCol w="1522475"/>
                <a:gridCol w="1503900"/>
                <a:gridCol w="1773325"/>
                <a:gridCol w="1477125"/>
              </a:tblGrid>
              <a:tr h="66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 name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Name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1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on Users' Trust of Chatbots Driven by AI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F. Min, Z. Fang, Y. He, and J. Xuan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 IEEE International Conference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Analyzed user trust in AI-driven chatbots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Focused on perception, not retrieval or accuracy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16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Chatbot: A Question Answering System for Student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L. E. Chen, S. Y. Cheng, and J. -S. Heh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 International Conference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 chatbot for student query resolution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lacks advanced NLP integration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16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Chatbot for Academic Advising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R. Al-Jedaie, R. Al-Hindy, H. Al-Onazi, E. Kariri, and F. Masmoudi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 International Conference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Created a chatbot to assist students with course selection and academic planning	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generalizability; not based on RAG or LLM models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457200" y="557028"/>
            <a:ext cx="8229600" cy="841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457200" y="1647138"/>
            <a:ext cx="8229600" cy="40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Colleges receive numerous repetitive queries about courses, admissions, facilities etc.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Manually addressing these queries is time-consuming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Traditional static web pages or human responses are time-consuming and prone to inconsistency.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Users struggle to find specific details, may lead to misinformation.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There is a need for an intelligent system that can retrieve relevant information accurately 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457200" y="221925"/>
            <a:ext cx="8229600" cy="55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500550" y="1001775"/>
            <a:ext cx="8142900" cy="51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objective of this project is to design and develop an intelligent, automated query resolution system for college-related information. The key goals are as follows: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pen Sans Medium"/>
              <a:buChar char="●"/>
            </a:pPr>
            <a:r>
              <a:rPr b="1"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 Query Handling: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a system that can automatically answer common college-related queries, such as those related to courses, schedules, campus facilities, events, and faculty details, providing accurate and timely responses.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pen Sans Medium"/>
              <a:buChar char="●"/>
            </a:pPr>
            <a:r>
              <a:rPr b="1"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User Experience: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user experience for students, faculty, and staff by offering a 24/7 accessible platform that provides quick and relevant answers to their queries in natural language.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pen Sans Medium"/>
              <a:buChar char="●"/>
            </a:pPr>
            <a:r>
              <a:rPr b="1"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Administrative Burden: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Minimize the workload of administrative staff by reducing the volume of repetitive queries, allowing them to focus on more complex tasks.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-72150" y="800450"/>
            <a:ext cx="9288300" cy="103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Methodologies to meet the Objective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581525" y="2045350"/>
            <a:ext cx="8229600" cy="3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Data Collection and Preprocessing (</a:t>
            </a:r>
            <a:r>
              <a:rPr i="1" lang="en-US" sz="26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Scraping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Text Segmentation and Embedding Generation 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Creation of Vector Store Database (</a:t>
            </a:r>
            <a:r>
              <a:rPr i="1" lang="en-US" sz="26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Agentic RAG Model Construction (</a:t>
            </a:r>
            <a:r>
              <a:rPr i="1" lang="en-US" sz="26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Langchain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Integration of LLM (</a:t>
            </a:r>
            <a:r>
              <a:rPr i="1" lang="en-US" sz="26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meta-llama-3.3-70B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Web Interface Development (</a:t>
            </a:r>
            <a:r>
              <a:rPr i="1" lang="en-US" sz="26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457200" y="12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Design of the Proposed System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3">
            <a:alphaModFix/>
          </a:blip>
          <a:srcRect b="5213" l="0" r="0" t="0"/>
          <a:stretch/>
        </p:blipFill>
        <p:spPr>
          <a:xfrm>
            <a:off x="587550" y="967225"/>
            <a:ext cx="7968901" cy="562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457200" y="113675"/>
            <a:ext cx="8229600" cy="70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Contribution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457200" y="820475"/>
            <a:ext cx="8499900" cy="553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Member 1 (Dinesh Prabhu S) :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Integrated Meta-Llama 3.3 with LangChain for generating answers.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Set up Agentic RAG logic to combine retrieval and reasoning.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Created vector store using Supabase and Nomic embeddings.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Wrote backend logic for tool calling and LLM interaction.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Member 2 (Hari Haran K) :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Designed the chatbot interface using Streamlit.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Developed the document upload and text-splitting process.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Handled chat history, formatting, and error handling in UI.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Tested chatbot with queries and validated the responses.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556125" y="1189100"/>
            <a:ext cx="8229600" cy="52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43625"/>
            <a:ext cx="8229599" cy="353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457200" y="160275"/>
            <a:ext cx="8229600" cy="52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457200" y="941800"/>
            <a:ext cx="8422800" cy="559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spcBef>
                <a:spcPts val="36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 chatbot efficiently answers queries using AI, enhancing the accessibility of institutional information.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Agentic RAG combined with Meta-Llama 3.3 ensures fact-based, complete responses drawn directly from college documents.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Supabase serves as a reliable vector store, while Nomic embeddings enable accurate semantic matching for document retrieval.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 Streamlit-based interface provides a seamless and interactive experience for users, making the chatbot accessible and easy to use.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❏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Overall, the system significantly reduces the manual query handling and improves the accuracy, speed, and consistency of information delivery.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457200" y="1027175"/>
            <a:ext cx="8229600" cy="60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457200" y="1540750"/>
            <a:ext cx="8229600" cy="518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360"/>
              </a:spcBef>
              <a:spcAft>
                <a:spcPts val="0"/>
              </a:spcAft>
              <a:buSzPts val="2500"/>
              <a:buChar char="➔"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Real-Time Updates: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Enable dynamic syncing with newly uploaded college documents and circulars.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Advanced Reasoning: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Integrate reasoning capabilities to answer complex, multi-step queries.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Authentication Layer: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Personalize responses based on user type (e.g., applicant, current student, staff).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Analytics Dashboard: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Track most-asked queries to help the institution understand user needs better.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Char char="➔"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Live Document Syncing: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Automatically update the vector store when college documents are modified.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457200" y="67800"/>
            <a:ext cx="8229600" cy="571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187425" y="789375"/>
            <a:ext cx="8879700" cy="57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DataCamp Blog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(2025). Agentic RAG: How It Works, Use Cases, Comparison With RAG.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https://www.datacamp.com/blog/agentic-rag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LinkedIn Pulse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(2024). Top LLMs for Chatbots: Generative AI Guide.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https://www.linkedin.com/pulse/top-llms-chatbots-generative-ai-guide-covisian-s50uf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Skillcrush Blog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(2025). The Top 5 LLM Frameworks in 2025.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https://skillcrush.com/blog/best-llm-frameworks/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TiDB Blog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(2024). Step-by-Step Guide to Using LangChain for AI Projects.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https://www.pingcap.com/article/step-by-step-guide-to-using-langchain-for-ai-projects/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 Documentation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(n.d.). Supabase Documentation.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https://supabase.io/docs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Documentation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(n.d.). Streamlit Documentation.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https://streamlit.io/docs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PyCharm Blog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(2024). How to Build Chatbots With LangChain.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https://blog.jetbrains.com/pycharm/2024/08/how-to-build-chatbots-with-langchain/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lang="en-US" sz="19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Skillcrush Blog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(2025). The Top 5 LLM Frameworks in 2025. </a:t>
            </a:r>
            <a:r>
              <a:rPr lang="en-US" sz="19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https://skillcrush.com/blog/best-llm-frameworks/</a:t>
            </a:r>
            <a:endParaRPr sz="19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457200" y="812330"/>
            <a:ext cx="8229600" cy="640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Publications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101100" y="1680700"/>
            <a:ext cx="8941800" cy="40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Authors: 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Dinesh Prabhu S, Hari Haran K, Dr. M. Vijayalakshmi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Title: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AI-Powered College Query Chatbot Using Agentic RAG, LLM, and LangChain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Status of the Publication: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Submitted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Conference Details: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2025 International Conference on Computing, Intelligence, and Application (CIACON).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July 18-19,2025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457200" y="2487637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